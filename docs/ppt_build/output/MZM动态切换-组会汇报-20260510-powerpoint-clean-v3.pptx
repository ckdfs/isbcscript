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5">
  <p:sldMasterIdLst>
    <p:sldMasterId id="2147483648" r:id="rId1"/>
    <p:sldMasterId id="2147483652" r:id="rId3"/>
    <p:sldMasterId id="2147483656" r:id="rId4"/>
    <p:sldMasterId id="2147483661" r:id="rId5"/>
    <p:sldMasterId id="2147483667" r:id="rId6"/>
    <p:sldMasterId id="2147483671" r:id="rId7"/>
    <p:sldMasterId id="2147483674" r:id="rId8"/>
    <p:sldMasterId id="2147483678" r:id="rId9"/>
    <p:sldMasterId id="2147483690" r:id="rId10"/>
  </p:sldMasterIdLst>
  <p:notesMasterIdLst>
    <p:notesMasterId r:id="rId47"/>
  </p:notesMasterIdLst>
  <p:sldIdLst>
    <p:sldId id="1437" r:id="rId11"/>
    <p:sldId id="1438" r:id="rId12"/>
    <p:sldId id="1439" r:id="rId13"/>
    <p:sldId id="1440" r:id="rId14"/>
    <p:sldId id="1441" r:id="rId15"/>
    <p:sldId id="1442" r:id="rId16"/>
    <p:sldId id="1443" r:id="rId17"/>
    <p:sldId id="1444" r:id="rId18"/>
    <p:sldId id="1445" r:id="rId19"/>
    <p:sldId id="1446" r:id="rId20"/>
    <p:sldId id="1447" r:id="rId21"/>
    <p:sldId id="1448" r:id="rId22"/>
    <p:sldId id="1449" r:id="rId23"/>
    <p:sldId id="1450" r:id="rId24"/>
    <p:sldId id="1451" r:id="rId25"/>
    <p:sldId id="1452" r:id="rId26"/>
    <p:sldId id="1453" r:id="rId27"/>
    <p:sldId id="1454" r:id="rId28"/>
    <p:sldId id="1455" r:id="rId29"/>
    <p:sldId id="1456" r:id="rId30"/>
    <p:sldId id="1457" r:id="rId31"/>
    <p:sldId id="1458" r:id="rId32"/>
    <p:sldId id="1459" r:id="rId33"/>
    <p:sldId id="1460" r:id="rId34"/>
    <p:sldId id="1461" r:id="rId35"/>
    <p:sldId id="1462" r:id="rId36"/>
    <p:sldId id="1463" r:id="rId37"/>
    <p:sldId id="1464" r:id="rId38"/>
    <p:sldId id="1465" r:id="rId39"/>
    <p:sldId id="1466" r:id="rId40"/>
    <p:sldId id="1467" r:id="rId41"/>
    <p:sldId id="1468" r:id="rId42"/>
    <p:sldId id="1469" r:id="rId43"/>
    <p:sldId id="1470" r:id="rId44"/>
    <p:sldId id="1471" r:id="rId45"/>
    <p:sldId id="1472" r:id="rId4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A" initials="A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5353" autoAdjust="0"/>
  </p:normalViewPr>
  <p:slideViewPr>
    <p:cSldViewPr showGuides="1">
      <p:cViewPr varScale="1">
        <p:scale>
          <a:sx n="107" d="100"/>
          <a:sy n="107" d="100"/>
        </p:scale>
        <p:origin x="1890" y="99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Master" Target="slideMasters/slideMaster4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7AE7ACA-BD9F-4D77-AB6E-315ACCA41D52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F74CDF23-0B28-487F-BDAF-0EE70AEF8EE9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5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fontAlgn="auto" latinLnBrk="0" hangingPunct="1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eaLnBrk="1" fontAlgn="auto" latinLnBrk="0" hangingPunct="1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eaLnBrk="1" fontAlgn="auto" latinLnBrk="0" hangingPunct="1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eaLnBrk="1" fontAlgn="auto" latinLnBrk="0" hangingPunct="1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eaLnBrk="1" fontAlgn="auto" latinLnBrk="0" hangingPunct="1"/>
            <a:r>
              <a:rPr lang="zh-CN" altLang="en-US" strike="noStrike" noProof="1"/>
              <a:t>第五级</a:t>
            </a:r>
            <a:endParaRPr kumimoji="0" lang="en-US" strike="noStrike" noProof="1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auto"/>
            <a:r>
              <a:rPr kumimoji="0" lang="zh-CN" altLang="en-US" strike="noStrike" noProof="1"/>
              <a:t>单击此处编辑母版标题样式</a:t>
            </a:r>
            <a:endParaRPr kumimoji="0"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hangingPunct="1">
              <a:buFont typeface="Arial" panose="020B0604020202090204" pitchFamily="34" charset="0"/>
              <a:buNone/>
              <a:defRPr/>
            </a:lvl1pPr>
          </a:lstStyle>
          <a:p>
            <a:pPr fontAlgn="auto">
              <a:defRPr/>
            </a:pPr>
            <a:fld id="{C01E8507-52C6-4265-BE12-85960E163C83}" type="datetime1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hangingPunct="1">
              <a:buFont typeface="Arial" panose="020B0604020202090204" pitchFamily="34" charset="0"/>
              <a:buNone/>
              <a:defRPr/>
            </a:lvl1pPr>
          </a:lstStyle>
          <a:p>
            <a:pPr fontAlgn="auto">
              <a:defRPr/>
            </a:pPr>
            <a:endParaRPr lang="zh-CN" altLang="zh-CN" strike="noStrike" noProof="1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90204" pitchFamily="34" charset="0"/>
              <a:buNone/>
              <a:defRPr/>
            </a:lvl1pPr>
          </a:lstStyle>
          <a:p>
            <a:pPr fontAlgn="auto">
              <a:defRPr/>
            </a:pPr>
            <a:fld id="{E2A444BC-60ED-4DF7-A7A3-68FEE76D44E7}" type="slidenum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4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fontAlgn="auto">
              <a:defRPr/>
            </a:pPr>
            <a:fld id="{84638E3B-35CE-438C-84ED-B1FAC3770CF6}" type="slidenum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5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6248" y="1555115"/>
            <a:ext cx="3924776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1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7" Type="http://schemas.openxmlformats.org/officeDocument/2006/relationships/image" Target="../media/image2.jpeg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5" Type="http://schemas.openxmlformats.org/officeDocument/2006/relationships/theme" Target="../theme/theme5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5" Type="http://schemas.openxmlformats.org/officeDocument/2006/relationships/theme" Target="../theme/theme7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8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1031" name="Picture 4" descr="E:\PPT汇报\矢量文件\未命名 -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717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2055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9" name="Picture 2" descr="E:\PPT汇报\矢量文件\未命名 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prstClr val="black">
                    <a:tint val="75000"/>
                  </a:prstClr>
                </a:solidFill>
                <a:ea typeface="宋体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prstClr val="black">
                    <a:tint val="75000"/>
                  </a:prstClr>
                </a:solidFill>
                <a:ea typeface="宋体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  <p:pic>
        <p:nvPicPr>
          <p:cNvPr id="4103" name="Picture 2" descr="E:\PPT汇报\矢量文件\未命名 -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2"/>
          <p:cNvSpPr txBox="1"/>
          <p:nvPr/>
        </p:nvSpPr>
        <p:spPr>
          <a:xfrm>
            <a:off x="1042988" y="6497638"/>
            <a:ext cx="6653212" cy="2444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PMingLiU" pitchFamily="18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5127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9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Calibri" panose="020F0502020204030204" charset="0"/>
            </a:endParaRPr>
          </a:p>
        </p:txBody>
      </p:sp>
      <p:pic>
        <p:nvPicPr>
          <p:cNvPr id="6151" name="Picture 2" descr="E:\PPT汇报\矢量文件\未命名 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2055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1031" name="Picture 4" descr="E:\PPT汇报\矢量文件\未命名 -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717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16.png"/><Relationship Id="rId1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0.png"/><Relationship Id="rId2" Type="http://schemas.openxmlformats.org/officeDocument/2006/relationships/image" Target="../media/image42.png"/><Relationship Id="rId1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6.png"/><Relationship Id="rId3" Type="http://schemas.openxmlformats.org/officeDocument/2006/relationships/image" Target="../media/image72.png"/><Relationship Id="rId2" Type="http://schemas.openxmlformats.org/officeDocument/2006/relationships/image" Target="../media/image63.png"/><Relationship Id="rId1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文本框 1"/>
          <p:cNvSpPr txBox="1"/>
          <p:nvPr/>
        </p:nvSpPr>
        <p:spPr>
          <a:xfrm>
            <a:off x="914400" y="2132892"/>
            <a:ext cx="7315200" cy="860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MZM 偏置点动态切换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原理、脚本与实验结果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5868108" y="4581096"/>
            <a:ext cx="25202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汇报时间：2026.05.23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    张新科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39664" y="1556844"/>
            <a:ext cx="8064672" cy="280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汇报内容：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研究背景与目标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物理原理：MZM 模型与导频比值法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三种控制策略与算法实现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实验脚本流程与代码组织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5/10 实验设计：基础验证 + 占空比扫描 + LFM 抗扰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实验结果与定量验证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总结与下一步计划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MZM 偏置漂移导致工作点不稳定，需通用框架闭环锁定三种工作点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应用场景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MZM 是光通信、雷达、ADC 采样链路的核心调制器件；工作点（最大点 / 最小点 / 正交点）的选择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直接决定调制效率、线性度、谐波分布；不同的应用对应不同的工作点配置。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现存问题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温度漂移、机械振动、激光波长抖动使 MZM 偏置点缓慢游走，开环工作不可持续；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已有工业方案多为'单一工作点'锁定，难以支持工作点之间的动态切换。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本工作目标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通用的 PWM 切换框架，统一三种切换模式：最大/最小↔正交（max_quad）、正/负正交（quad_pm）、最大↔最小（max_min）；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基于导频信号比值法 + 闭环 PI / 自适应梯度下降，软件可在三种模式间一键切换；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5/10 一日完成三组实验（基础验证 + 占空比扫描 + LFM 抗扰），全部锁定成功。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MZM 输出 = 余弦平方调制，由总相位决定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MZM 模型与导频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光强传输函数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3488" y="2092655"/>
            <a:ext cx="2097024" cy="356616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254071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总相位由导频、PWM 切换、直流偏置三部分叠加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36" y="3053791"/>
            <a:ext cx="3386328" cy="182880"/>
          </a:xfrm>
          <a:prstGeom prst="rect">
            <a:avLst/>
          </a:prstGeom>
        </p:spPr>
      </p:pic>
      <p:sp>
        <p:nvSpPr>
          <p:cNvPr id="58" name="文本框 3"/>
          <p:cNvSpPr txBox="1"/>
          <p:nvPr/>
        </p:nvSpPr>
        <p:spPr>
          <a:xfrm>
            <a:off x="395935" y="332811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调制指数与半波电压的关系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F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3841190"/>
            <a:ext cx="1444752" cy="399288"/>
          </a:xfrm>
          <a:prstGeom prst="rect">
            <a:avLst/>
          </a:prstGeom>
        </p:spPr>
      </p:pic>
      <p:sp>
        <p:nvSpPr>
          <p:cNvPr id="59" name="文本框 3"/>
          <p:cNvSpPr txBox="1"/>
          <p:nvPr/>
        </p:nvSpPr>
        <p:spPr>
          <a:xfrm>
            <a:off x="395935" y="433191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本实验数值代入：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Picture 54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491" y="4844998"/>
            <a:ext cx="3557016" cy="387096"/>
          </a:xfrm>
          <a:prstGeom prst="rect">
            <a:avLst/>
          </a:prstGeom>
        </p:spPr>
      </p:pic>
      <p:sp>
        <p:nvSpPr>
          <p:cNvPr id="60" name="文本框 3"/>
          <p:cNvSpPr txBox="1"/>
          <p:nvPr/>
        </p:nvSpPr>
        <p:spPr>
          <a:xfrm>
            <a:off x="395935" y="5323534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信号参数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导频频率 20 kHz；PWM 频率 200 kHz；基础配置占空比 50%。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导频经 Bessel 展开把 phi_DC 编码到一阶 / 二阶谐波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Jacobi-Anger 展开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Jacobi-Anger 展开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2266" y="2092655"/>
            <a:ext cx="1839468" cy="473964"/>
          </a:xfrm>
          <a:prstGeom prst="rect">
            <a:avLst/>
          </a:prstGeom>
        </p:spPr>
      </p:pic>
      <p:sp>
        <p:nvSpPr>
          <p:cNvPr id="56" name="文本框 3"/>
          <p:cNvSpPr txBox="1"/>
          <p:nvPr/>
        </p:nvSpPr>
        <p:spPr>
          <a:xfrm>
            <a:off x="395935" y="265805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代入 MZM 余弦项展开后，各次谐波形式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339" y="3171139"/>
            <a:ext cx="5851321" cy="170992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343357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分量、相位依赖与零点位置（控制可行性的物理基础）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48639" y="3946650"/>
          <a:ext cx="8046720" cy="1316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0160"/>
                <a:gridCol w="2194560"/>
                <a:gridCol w="1280160"/>
                <a:gridCol w="32918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频率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幅度（正比于）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相位依赖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零点位置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DC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J0·cos phi_DC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cos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phi_DC = pi/2 + npi（正交点）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f_pilot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J1·sin phi_DC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sin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phi_DC = npi（最大 / 最小点）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 f_pilot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J2·cos phi_DC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cos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phi_DC = pi/2 + npi（正交点）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8" name="文本框 3"/>
          <p:cNvSpPr txBox="1"/>
          <p:nvPr/>
        </p:nvSpPr>
        <p:spPr>
          <a:xfrm>
            <a:off x="395935" y="5318250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一阶与二阶分量在 phi_DC 上为 sin / cos 正交对 —— 这是比值法锁定工作点的物理基础。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完整级数：仅一阶 / 二阶项有效，三阶以上可忽略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Bessel 展开与各阶数值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偶次余弦展开（决定 DC 与二阶谐波）：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B1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7144" y="2092655"/>
            <a:ext cx="3629710" cy="139903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2323998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奇次正弦展开（决定一阶谐波）：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B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173" y="2837078"/>
            <a:ext cx="3927652" cy="139903"/>
          </a:xfrm>
          <a:prstGeom prst="rect">
            <a:avLst/>
          </a:prstGeom>
        </p:spPr>
      </p:pic>
      <p:sp>
        <p:nvSpPr>
          <p:cNvPr id="58" name="文本框 3"/>
          <p:cNvSpPr txBox="1"/>
          <p:nvPr/>
        </p:nvSpPr>
        <p:spPr>
          <a:xfrm>
            <a:off x="395935" y="306842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本实验调制指数代入后的各阶 Bessel 数值：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B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579" y="3581501"/>
            <a:ext cx="4142841" cy="379171"/>
          </a:xfrm>
          <a:prstGeom prst="rect">
            <a:avLst/>
          </a:prstGeom>
        </p:spPr>
      </p:pic>
      <p:sp>
        <p:nvSpPr>
          <p:cNvPr id="59" name="文本框 3"/>
          <p:cNvSpPr txBox="1"/>
          <p:nvPr/>
        </p:nvSpPr>
        <p:spPr>
          <a:xfrm>
            <a:off x="395935" y="4052112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小信号近似（连接理论目标比值）：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Picture 54" descr="B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034" y="4565192"/>
            <a:ext cx="3257930" cy="360121"/>
          </a:xfrm>
          <a:prstGeom prst="rect">
            <a:avLst/>
          </a:prstGeom>
        </p:spPr>
      </p:pic>
      <p:sp>
        <p:nvSpPr>
          <p:cNvPr id="60" name="文本框 3"/>
          <p:cNvSpPr txBox="1"/>
          <p:nvPr/>
        </p:nvSpPr>
        <p:spPr>
          <a:xfrm>
            <a:off x="395935" y="5016753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≈ 0.235 时三阶以下迅速衰减，仅一阶（20 kHz）与二阶（40 kHz）参与控制。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PWM 切换引入由占空比决定的相位偏移，等效统一三种模式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 切换通用框架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PWM 在状态 A 与状态 B 间切换，占空比为 A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3"/>
          <p:cNvSpPr txBox="1"/>
          <p:nvPr/>
        </p:nvSpPr>
        <p:spPr>
          <a:xfrm>
            <a:off x="395935" y="205607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基频谐波在切换 + 辅助角化简后的统一形式：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768" y="2569159"/>
            <a:ext cx="4474464" cy="164592"/>
          </a:xfrm>
          <a:prstGeom prst="rect">
            <a:avLst/>
          </a:prstGeom>
        </p:spPr>
      </p:pic>
      <p:sp>
        <p:nvSpPr>
          <p:cNvPr id="58" name="文本框 3"/>
          <p:cNvSpPr txBox="1"/>
          <p:nvPr/>
        </p:nvSpPr>
        <p:spPr>
          <a:xfrm>
            <a:off x="395935" y="282519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相位偏移与功率衰减因子由占空比唯一确定：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19" y="3338271"/>
            <a:ext cx="1356360" cy="361188"/>
          </a:xfrm>
          <a:prstGeom prst="rect">
            <a:avLst/>
          </a:prstGeom>
        </p:spPr>
      </p:pic>
      <p:pic>
        <p:nvPicPr>
          <p:cNvPr id="54" name="Picture 53" descr="F0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244" y="3827475"/>
            <a:ext cx="1429512" cy="217932"/>
          </a:xfrm>
          <a:prstGeom prst="rect">
            <a:avLst/>
          </a:prstGeom>
        </p:spPr>
      </p:pic>
      <p:sp>
        <p:nvSpPr>
          <p:cNvPr id="59" name="文本框 3"/>
          <p:cNvSpPr txBox="1"/>
          <p:nvPr/>
        </p:nvSpPr>
        <p:spPr>
          <a:xfrm>
            <a:off x="395935" y="4136847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不同占空比下的相位偏移与功率损失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5839" y="4649927"/>
          <a:ext cx="713232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/>
                <a:gridCol w="1463040"/>
                <a:gridCol w="237744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A（占空比）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phi_0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kappa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功率损失 (dB)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45°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0.707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−3.00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33.7°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0.721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−2.84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23.2°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0.762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−2.36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6.3°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0.906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−0.86</a:t>
                      </a:r>
                      <a:endParaRPr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60" name="文本框 3"/>
          <p:cNvSpPr txBox="1"/>
          <p:nvPr/>
        </p:nvSpPr>
        <p:spPr>
          <a:xfrm>
            <a:off x="395935" y="6350710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A=0.5 时功率损失最大（−3 dB），但仍工程可接受；A 偏离 0.5 时损失更小。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一阶 / 二阶幅度比值在单调区内唯一确定工作点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比值函数 r 与单调区间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比值函数（PWM 切换形式）：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2226" y="2092655"/>
            <a:ext cx="2479548" cy="437388"/>
          </a:xfrm>
          <a:prstGeom prst="rect">
            <a:avLst/>
          </a:prstGeom>
        </p:spPr>
      </p:pic>
      <p:sp>
        <p:nvSpPr>
          <p:cNvPr id="56" name="文本框 3"/>
          <p:cNvSpPr txBox="1"/>
          <p:nvPr/>
        </p:nvSpPr>
        <p:spPr>
          <a:xfrm>
            <a:off x="395935" y="2621483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小信号近似下的简洁形式（可与实测对比）：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0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078" y="3134563"/>
            <a:ext cx="2561844" cy="423672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36496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关键性质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① 周期为 pi：每周期内单调，单调区内目标点唯一；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② 引入相位偏移后，零点和渐近线位置由占空比唯一决定，可预先计算；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③ 实验中由曲线拟合直接给出目标值，自动吸收系统频响差异。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 模式工程拟合公式：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80" y="5849315"/>
            <a:ext cx="260604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三种模式对应三种状态相位配置，是否需要 cos / sin 导频切换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三种模式的差异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3"/>
          <p:cNvSpPr txBox="1"/>
          <p:nvPr/>
        </p:nvSpPr>
        <p:spPr>
          <a:xfrm>
            <a:off x="395935" y="19859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目标工作点位置：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344" y="2499055"/>
            <a:ext cx="3639312" cy="188976"/>
          </a:xfrm>
          <a:prstGeom prst="rect">
            <a:avLst/>
          </a:prstGeom>
        </p:spPr>
      </p:pic>
      <p:sp>
        <p:nvSpPr>
          <p:cNvPr id="55" name="文本框 3"/>
          <p:cNvSpPr txBox="1"/>
          <p:nvPr/>
        </p:nvSpPr>
        <p:spPr>
          <a:xfrm>
            <a:off x="395935" y="277947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模式对照表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20039" y="3292551"/>
          <a:ext cx="8503920" cy="12070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/>
                <a:gridCol w="914400"/>
                <a:gridCol w="914400"/>
                <a:gridCol w="1371600"/>
                <a:gridCol w="1828800"/>
                <a:gridCol w="228600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模式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状态A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状态B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导频配置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目标工作点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控制信号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max_quad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pi/2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sin / sin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最大点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比值 r → r_target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sin / cos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±正交点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二阶幅度 → min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max_min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cos / sin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最大点（切换）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一阶幅度 → min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6" name="文本框 3"/>
          <p:cNvSpPr txBox="1"/>
          <p:nvPr/>
        </p:nvSpPr>
        <p:spPr>
          <a:xfrm>
            <a:off x="395935" y="4554422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为什么 quad_pm / max_min 必须用 cos / sin 导频切换？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两态同 sin 导频时，方波切换引入 (2A−1) 因子，50% 占空比下控制信号完全消失；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cos / sin 切换使两态二阶贡献同号叠加、与占空比无关 —— 详细推导见后两页。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cos / sin 切换消除 (2A−1) 衰减因子，是可控的前提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 / sin 导频切换（一）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朴素方案：两态同用 sin 导频，二阶分量按 50% 占空比加权合成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595" y="2092655"/>
            <a:ext cx="6746808" cy="259384"/>
          </a:xfrm>
          <a:prstGeom prst="rect">
            <a:avLst/>
          </a:prstGeom>
        </p:spPr>
      </p:pic>
      <p:sp>
        <p:nvSpPr>
          <p:cNvPr id="56" name="文本框 3"/>
          <p:cNvSpPr txBox="1"/>
          <p:nvPr/>
        </p:nvSpPr>
        <p:spPr>
          <a:xfrm>
            <a:off x="395935" y="244347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两态相位相差 180°（±90° 正交点、或最大 ↔ 最小点），(2A−1) 因子在 A = 0.5 处归零；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结论：朴素方案在 50% 占空比下控制信号完全消失，无法锁定。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3"/>
          <p:cNvSpPr txBox="1"/>
          <p:nvPr/>
        </p:nvSpPr>
        <p:spPr>
          <a:xfrm>
            <a:off x="395935" y="3626103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改进方案：状态 A 用 cos 导频、状态 B 用 sin 导频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859" y="4139182"/>
            <a:ext cx="4072280" cy="148132"/>
          </a:xfrm>
          <a:prstGeom prst="rect">
            <a:avLst/>
          </a:prstGeom>
        </p:spPr>
      </p:pic>
      <p:sp>
        <p:nvSpPr>
          <p:cNvPr id="58" name="文本框 3"/>
          <p:cNvSpPr txBox="1"/>
          <p:nvPr/>
        </p:nvSpPr>
        <p:spPr>
          <a:xfrm>
            <a:off x="395935" y="437875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两态二阶贡献由相减变为同号相加，与占空比 A 解耦：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F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6" y="4891834"/>
            <a:ext cx="5749747" cy="219456"/>
          </a:xfrm>
          <a:prstGeom prst="rect">
            <a:avLst/>
          </a:prstGeom>
        </p:spPr>
      </p:pic>
      <p:sp>
        <p:nvSpPr>
          <p:cNvPr id="59" name="文本框 3"/>
          <p:cNvSpPr txBox="1"/>
          <p:nvPr/>
        </p:nvSpPr>
        <p:spPr>
          <a:xfrm>
            <a:off x="395935" y="5202730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 S_1 同理摆脱 (2A−1) 因子，50% 占空比下信号最强（完整 S_1 / S_2 推导见下页）。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 两态完整时域展开与 50% 切换合成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 / sin 导频切换（二）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状态 A（HIGH 5.4 V，sin 导频）：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B2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637" y="2092655"/>
            <a:ext cx="5072725" cy="119603"/>
          </a:xfrm>
          <a:prstGeom prst="rect">
            <a:avLst/>
          </a:prstGeom>
        </p:spPr>
      </p:pic>
      <p:sp>
        <p:nvSpPr>
          <p:cNvPr id="58" name="文本框 3"/>
          <p:cNvSpPr txBox="1"/>
          <p:nvPr/>
        </p:nvSpPr>
        <p:spPr>
          <a:xfrm>
            <a:off x="395935" y="2303698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状态 B（LOW 0 V，cos 导频）：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B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61" y="2816778"/>
            <a:ext cx="5092476" cy="119603"/>
          </a:xfrm>
          <a:prstGeom prst="rect">
            <a:avLst/>
          </a:prstGeom>
        </p:spPr>
      </p:pic>
      <p:sp>
        <p:nvSpPr>
          <p:cNvPr id="59" name="文本框 3"/>
          <p:cNvSpPr txBox="1"/>
          <p:nvPr/>
        </p:nvSpPr>
        <p:spPr>
          <a:xfrm>
            <a:off x="395935" y="302782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二阶项两态同号叠加、一阶项符号相反；50% 切换合成：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B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898" y="3540901"/>
            <a:ext cx="3114202" cy="168706"/>
          </a:xfrm>
          <a:prstGeom prst="rect">
            <a:avLst/>
          </a:prstGeom>
        </p:spPr>
      </p:pic>
      <p:pic>
        <p:nvPicPr>
          <p:cNvPr id="55" name="Picture 54" descr="B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96" y="3837623"/>
            <a:ext cx="4266407" cy="137464"/>
          </a:xfrm>
          <a:prstGeom prst="rect">
            <a:avLst/>
          </a:prstGeom>
        </p:spPr>
      </p:pic>
      <p:sp>
        <p:nvSpPr>
          <p:cNvPr id="60" name="文本框 3"/>
          <p:cNvSpPr txBox="1"/>
          <p:nvPr/>
        </p:nvSpPr>
        <p:spPr>
          <a:xfrm>
            <a:off x="395935" y="4066528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比值在目标处发散 → 改用二阶谷底自适应梯度下降：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" name="Picture 55" descr="B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679" y="4579608"/>
            <a:ext cx="3304641" cy="3316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比值 PI 控制：闭环锁定比值 r 至目标 r_target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max_quad：比值 PI 控制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拟合模型（比值随等效偏压单调递减）：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8980" y="2092655"/>
            <a:ext cx="2606040" cy="449580"/>
          </a:xfrm>
          <a:prstGeom prst="rect">
            <a:avLst/>
          </a:prstGeom>
        </p:spPr>
      </p:pic>
      <p:sp>
        <p:nvSpPr>
          <p:cNvPr id="56" name="文本框 3"/>
          <p:cNvSpPr txBox="1"/>
          <p:nvPr/>
        </p:nvSpPr>
        <p:spPr>
          <a:xfrm>
            <a:off x="395935" y="26336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功率到比值的换算与 PI 更新公式：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26" y="3146755"/>
            <a:ext cx="3165348" cy="216408"/>
          </a:xfrm>
          <a:prstGeom prst="rect">
            <a:avLst/>
          </a:prstGeom>
        </p:spPr>
      </p:pic>
      <p:pic>
        <p:nvPicPr>
          <p:cNvPr id="54" name="Picture 53" descr="F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04" y="3491179"/>
            <a:ext cx="2602992" cy="182880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376549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算法流程（mzm/control.py: pi_control_loop）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① 频谱仪读两个谐波，转线性功率后取比值；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② 误差为目标比值减实测比值；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③ 用积分增益更新 CH1 偏置，限幅后下发；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④ 循环周期约 0.5 s（频谱仪扫描时间决定），初始增益 0.01。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3"/>
          <p:cNvSpPr txBox="1"/>
          <p:nvPr/>
        </p:nvSpPr>
        <p:spPr>
          <a:xfrm>
            <a:off x="395935" y="5928563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目标比值由拟合自动给出，吸收所有系统频响差异。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比值在目标处发散，改用二阶幅度自适应梯度下降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quad_pm：S2 最小值法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 的一阶 / 二阶幅度（cos/sin 切换让二阶两态同号叠加）：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11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1964" y="2092655"/>
            <a:ext cx="2100072" cy="222504"/>
          </a:xfrm>
          <a:prstGeom prst="rect">
            <a:avLst/>
          </a:prstGeom>
        </p:spPr>
      </p:pic>
      <p:pic>
        <p:nvPicPr>
          <p:cNvPr id="53" name="Picture 52" descr="F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208" y="2443175"/>
            <a:ext cx="2005584" cy="182880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271749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为什么不用比值 PI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两正交点处比值发散（渐近线），曲线拟合不可靠、PI 目标不可达；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二阶幅度在正交点处恰为零（谷底），天然适合做控制目标。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自适应探针参数（mzm/control.py: signal_min_control_loop, signal_index=2）：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F1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4779975"/>
            <a:ext cx="3026664" cy="201168"/>
          </a:xfrm>
          <a:prstGeom prst="rect">
            <a:avLst/>
          </a:prstGeom>
        </p:spPr>
      </p:pic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234440" y="5109159"/>
          <a:ext cx="6675120" cy="15087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/>
                <a:gridCol w="1280160"/>
                <a:gridCol w="1188720"/>
                <a:gridCol w="1645920"/>
                <a:gridCol w="137160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距谷底距离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excess (dB)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探针 (V)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二阶梯度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步长 (V)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远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~5 dB/V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0.09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~50 dB/V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0.03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近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0.06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~100 dB/V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0.009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谷底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0.02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0（死区）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cos / sin 导频切换保留信号，一阶幅度谷底即目标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max_min：S1 最小值法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max_min 50% 占空比时的一阶 / 二阶幅度：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11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1964" y="2092655"/>
            <a:ext cx="2100072" cy="222504"/>
          </a:xfrm>
          <a:prstGeom prst="rect">
            <a:avLst/>
          </a:prstGeom>
        </p:spPr>
      </p:pic>
      <p:pic>
        <p:nvPicPr>
          <p:cNvPr id="53" name="Picture 52" descr="F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208" y="2443175"/>
            <a:ext cx="2005584" cy="182880"/>
          </a:xfrm>
          <a:prstGeom prst="rect">
            <a:avLst/>
          </a:prstGeom>
        </p:spPr>
      </p:pic>
      <p:sp>
        <p:nvSpPr>
          <p:cNvPr id="56" name="文本框 3"/>
          <p:cNvSpPr txBox="1"/>
          <p:nvPr/>
        </p:nvSpPr>
        <p:spPr>
          <a:xfrm>
            <a:off x="395935" y="271749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关键观察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二阶幅度与占空比无关（两态同号叠加），目标处为峰值；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一阶幅度在目标处为零（V 形谷底），选作控制信号。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控制配置（与 quad_pm 同构，仅 signal_index=1）：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F1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495495"/>
            <a:ext cx="4267200" cy="166116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47530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参考点取在最大/最小点电气中点；探针自适应、死区 0.002 V；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偏置硬限位与 ARB 振幅边界协调，避免输出溢出。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DG922Pro CH1 → MZM → PD → FSV30（DC 耦合）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硬件链路与关键参数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设备 + 信号链路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DG922Pro（192.168.99.115）CH1 输出 sin / ARB 波形 → MZM 偏置端口；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MZM 光输出 → 光电探测器 → FSV3000（192.168.99.209）输入，DC 耦合（&lt; 1 MHz 信号必需）；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FSV30 已知读数偏高 6 dB，所有代码统一减去 POWER_OFFSET_DB = 6.0。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关键参数（config.py）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731519" y="4063695"/>
          <a:ext cx="7680960" cy="21122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/>
                <a:gridCol w="1828800"/>
                <a:gridCol w="365760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值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说明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PILOT_FREQ_HZ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20 000 Hz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导频频率 f_pilot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PILOT_AMP_VPP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0.800 Vpp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导频幅度 → m_pilot ≈ 0.235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PWM 频率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200 kHz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切换频率，远 &gt; 导频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SCAN_STEP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0.100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扫描步长（121 点 / [−6, +6] V）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SA_RBW / VBW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Hz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频谱仪窄带，低噪底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POWER_OFFSET_DB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−6.0 dB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FSV30 已知校准偏差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半波电压标定 → ARB 偏压扫描 → 拟合 → 闭环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四步流程：扫描→拟合→控制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四步与对应代码入口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20039" y="2092655"/>
          <a:ext cx="850392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/>
                <a:gridCol w="2743200"/>
                <a:gridCol w="2560320"/>
                <a:gridCol w="22860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步骤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目的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代码入口（mzm/）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产出文件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标定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找两个 sin 零点，间距即半波电压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scan.vpi_scan()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vpi_scan.csv, vpi.json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扫描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ARB 波形下扫偏压，记录一阶 / 二阶幅度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scan.bias_scan()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arb_scan.csv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拟合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拟合比值曲线，给出目标 / 零点修正参数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fit.ratio_fit() / 备选估计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fit_result.json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 闭环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PI（比值）或自适应梯度下降（min 谷底）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control.pi_control_loop / signal_min_control_loop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control_log.csv, control.png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5" name="文本框 3"/>
          <p:cNvSpPr txBox="1"/>
          <p:nvPr/>
        </p:nvSpPr>
        <p:spPr>
          <a:xfrm>
            <a:off x="395935" y="351911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CLI 入口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python main.py --mode {max_quad|quad_pm|max_min} --step {scan|fit|control|all}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ARB 波形参数（步骤 2-4 共用）：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203" y="5159959"/>
            <a:ext cx="4817592" cy="3044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ModeBase：新增控制模式只需实现 4 个方法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ModeBase 抽象接口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抽象接口（mzm/modes/base.py）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configure_source(gen, vpi)  —  配置 DG922 CH1（ARB 波形 / 幅度 / 偏置初值）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sweep_offsets(base, vpi)    —  把 base 偏压序列映射为实际 CH1 序列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fit_model(v, A, V0, vpi_fit) —  比值曲线拟合函数（curve_fit 用）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initial_offset(vpi, V0)      —  控制环路启动偏压；另含 control_strategy / use_curve_fit 等开关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具体实现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40080" y="4769815"/>
          <a:ext cx="7863840" cy="12070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0160"/>
                <a:gridCol w="1828800"/>
                <a:gridCol w="1463040"/>
                <a:gridCol w="2011680"/>
                <a:gridCol w="128016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模式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control_strategy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use_curve_fit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ARB 幅度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vdc_ref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max_quad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ratio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Vpi/2 + 0.8 Vpp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Vpi/4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s2_min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6.2 Vpp（固定）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Vpi/2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max_min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s1_min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Vpi + 0.8 Vpp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Vpi/2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4" name="文本框 3"/>
          <p:cNvSpPr txBox="1"/>
          <p:nvPr/>
        </p:nvSpPr>
        <p:spPr>
          <a:xfrm>
            <a:off x="395935" y="6031687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注册（main.py 无需修改，自动读取 MODES 字典）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三组实验：基础验证 + 占空比扫描 + LFM 抗扰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实验组别总览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74319" y="2092655"/>
          <a:ext cx="8595360" cy="12070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/>
                <a:gridCol w="1828800"/>
                <a:gridCol w="4389120"/>
                <a:gridCol w="91440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时间段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目的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实验数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基础验证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10:47 – 12:58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50% 占空比，三模式各 1 次（长稳定性测试 ~35 min/次）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占空比扫描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14:10 – 14:45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30% 与 70% 占空比，三模式 × 2 占空比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LFM 抗扰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15:45 – 17:01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注入 15 dBm LFM 干扰，max_quad / quad_pm 各 1 次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4" name="文本框 3"/>
          <p:cNvSpPr txBox="1"/>
          <p:nvPr/>
        </p:nvSpPr>
        <p:spPr>
          <a:xfrm>
            <a:off x="395935" y="3354527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数据组织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脚本侧：/Users/ckdfs/Desktop/isbc_20260510_上位机脚本采集/  共 11 个子目录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示波器：/Users/ckdfs/Desktop/isbctest_20260510/  共 32 张时域波形截图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结论预告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次实验全部锁定成功；占空比扫描定量验证了相位偏移公式；LFM 干扰下系统稳定锁定。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 在 50% 占空比下成功锁定，稳态相对误差 0.07%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max_quad @ 50%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c9sd3ruz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885" y="2031694"/>
            <a:ext cx="3237534" cy="2933497"/>
          </a:xfrm>
          <a:prstGeom prst="rect">
            <a:avLst/>
          </a:prstGeom>
        </p:spPr>
      </p:pic>
      <p:pic>
        <p:nvPicPr>
          <p:cNvPr id="53" name="Picture 52" descr="tmp_xscl4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79" y="2031694"/>
            <a:ext cx="3237534" cy="266620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65885" y="4983479"/>
            <a:ext cx="323753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扫描 + 拟合曲线</a:t>
            </a:r>
            <a:endParaRPr sz="1100" b="1"/>
          </a:p>
        </p:txBody>
      </p:sp>
      <p:sp>
        <p:nvSpPr>
          <p:cNvPr id="55" name="TextBox 54"/>
          <p:cNvSpPr txBox="1"/>
          <p:nvPr/>
        </p:nvSpPr>
        <p:spPr>
          <a:xfrm>
            <a:off x="4640579" y="4983479"/>
            <a:ext cx="323753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闭环 PI 控制（37 min）</a:t>
            </a:r>
            <a:endParaRPr sz="1100" b="1"/>
          </a:p>
        </p:txBody>
      </p:sp>
      <p:sp>
        <p:nvSpPr>
          <p:cNvPr id="56" name="文本框 3"/>
          <p:cNvSpPr txBox="1"/>
          <p:nvPr/>
        </p:nvSpPr>
        <p:spPr>
          <a:xfrm>
            <a:off x="395935" y="5221224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关键数值（fit_result.json + 稳态统计）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半波电压 5.4 V，零点修正 −0.25 V，目标比值 13.84；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稳态平均 13.849（偏差 0.07%），RMS 误差 0.81；持续 37 min 未漂移。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基础验证通过：比值 PI 控制工作正常。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锁定后 0–30 min 射频幅度方波保持一致，时域同样稳定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max_quad 时域稳定性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上轨（橙）= 方波 + 导频 + 射频联合波形；下轨（黄）= 示波器数字滤波滤除方波 / 导频后的射频幅度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max_quad：射频幅度在最大点（斜率≈0）↔ 正交点（斜率最大）间方波切换，直接显示工作点切换效果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tmpzxq0_ou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409" y="3101543"/>
            <a:ext cx="2221574" cy="142752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222409" y="4547357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锁定后 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4" name="Picture 53" descr="tmp7arjdqj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3101543"/>
            <a:ext cx="2221574" cy="142752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0016" y="4547357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+10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6" name="Picture 55" descr="tmp9o1k8g7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09" y="4911576"/>
            <a:ext cx="2221574" cy="142752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22409" y="6357391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+20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8" name="Picture 57" descr="tmpi82vlm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911576"/>
            <a:ext cx="2221574" cy="142752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00016" y="6357391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+30 min</a:t>
            </a:r>
            <a:endParaRPr sz="1100" b="1">
              <a:solidFill>
                <a:srgbClr val="C71F2C"/>
              </a:solidFill>
            </a:endParaRPr>
          </a:p>
        </p:txBody>
      </p:sp>
      <p:sp>
        <p:nvSpPr>
          <p:cNvPr id="61" name="文本框 3"/>
          <p:cNvSpPr txBox="1"/>
          <p:nvPr/>
        </p:nvSpPr>
        <p:spPr>
          <a:xfrm>
            <a:off x="395935" y="664999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四个时刻下轨射频方波的电平与占空比完全一致 —— 比值 PI 控制 30 min 内时域无漂移。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 在 50% 占空比下锁定二阶谷底，稳态比 floor 还低 2 dB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quad_pm @ 50%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euclmhe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885" y="2031694"/>
            <a:ext cx="3237534" cy="2933497"/>
          </a:xfrm>
          <a:prstGeom prst="rect">
            <a:avLst/>
          </a:prstGeom>
        </p:spPr>
      </p:pic>
      <p:pic>
        <p:nvPicPr>
          <p:cNvPr id="53" name="Picture 52" descr="tmp_alkncg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79" y="2031694"/>
            <a:ext cx="3237534" cy="264606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65885" y="4983479"/>
            <a:ext cx="323753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扫描（二阶谷底）</a:t>
            </a:r>
            <a:endParaRPr sz="1100" b="1"/>
          </a:p>
        </p:txBody>
      </p:sp>
      <p:sp>
        <p:nvSpPr>
          <p:cNvPr id="55" name="TextBox 54"/>
          <p:cNvSpPr txBox="1"/>
          <p:nvPr/>
        </p:nvSpPr>
        <p:spPr>
          <a:xfrm>
            <a:off x="4640579" y="4983479"/>
            <a:ext cx="323753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闭环梯度下降（34 min）</a:t>
            </a:r>
            <a:endParaRPr sz="1100" b="1"/>
          </a:p>
        </p:txBody>
      </p:sp>
      <p:sp>
        <p:nvSpPr>
          <p:cNvPr id="56" name="文本框 3"/>
          <p:cNvSpPr txBox="1"/>
          <p:nvPr/>
        </p:nvSpPr>
        <p:spPr>
          <a:xfrm>
            <a:off x="395935" y="5221224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关键数值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半波电压 5.4 V，谷底偏压 2.0 V，二阶 floor 约 −90.2 dBm；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稳态 −92.3 dBm（标准差约 3.6 dB），探针远 0.10 V → 近 0.02 V 自适应。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基础验证通过：二阶自适应梯度下降在两正交点切换下成功锁定。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锁定后 0–30 min 射频幅度恒定，两正交点等效且稳定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quad_pm 时域稳定性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上轨（橙）= 方波 + 导频 + 射频联合波形；下轨（黄）= 数字滤波滤除方波 / 导频后的射频幅度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quad_pm：两态均为正交点（斜率最大且相等）→ 射频幅度恒定，下轨平坦无方波切换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tmpa09n6h2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706" y="2817063"/>
            <a:ext cx="2415277" cy="155199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028706" y="4387346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锁定后 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4" name="Picture 53" descr="tmphqpx64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817063"/>
            <a:ext cx="2415277" cy="155199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0016" y="4387346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+10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6" name="Picture 55" descr="tmp6byol48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706" y="4765782"/>
            <a:ext cx="2415277" cy="155199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028706" y="6336065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+20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8" name="Picture 57" descr="tmpasy04t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765782"/>
            <a:ext cx="2415277" cy="155199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00016" y="6336065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+30 min</a:t>
            </a:r>
            <a:endParaRPr sz="1100" b="1">
              <a:solidFill>
                <a:srgbClr val="C71F2C"/>
              </a:solidFill>
            </a:endParaRPr>
          </a:p>
        </p:txBody>
      </p:sp>
      <p:sp>
        <p:nvSpPr>
          <p:cNvPr id="61" name="文本框 3"/>
          <p:cNvSpPr txBox="1"/>
          <p:nvPr/>
        </p:nvSpPr>
        <p:spPr>
          <a:xfrm>
            <a:off x="395935" y="6628673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四个时刻射频幅度无起伏、无漂移 —— 二阶梯度下降稳定锁定在 ±正交点。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max_min 在 50% 占空比下锁定一阶谷底，标准差 &lt; 0.04 dB（极稳）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max_min @ 50%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yekoz6i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885" y="2031694"/>
            <a:ext cx="3237534" cy="2933497"/>
          </a:xfrm>
          <a:prstGeom prst="rect">
            <a:avLst/>
          </a:prstGeom>
        </p:spPr>
      </p:pic>
      <p:pic>
        <p:nvPicPr>
          <p:cNvPr id="53" name="Picture 52" descr="tmp1peq6i6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79" y="2031694"/>
            <a:ext cx="3237534" cy="264789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65885" y="4983479"/>
            <a:ext cx="323753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扫描（一阶谷底）</a:t>
            </a:r>
            <a:endParaRPr sz="1100" b="1"/>
          </a:p>
        </p:txBody>
      </p:sp>
      <p:sp>
        <p:nvSpPr>
          <p:cNvPr id="55" name="TextBox 54"/>
          <p:cNvSpPr txBox="1"/>
          <p:nvPr/>
        </p:nvSpPr>
        <p:spPr>
          <a:xfrm>
            <a:off x="4640579" y="4983479"/>
            <a:ext cx="323753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闭环梯度下降（37 min）</a:t>
            </a:r>
            <a:endParaRPr sz="1100" b="1"/>
          </a:p>
        </p:txBody>
      </p:sp>
      <p:sp>
        <p:nvSpPr>
          <p:cNvPr id="56" name="文本框 3"/>
          <p:cNvSpPr txBox="1"/>
          <p:nvPr/>
        </p:nvSpPr>
        <p:spPr>
          <a:xfrm>
            <a:off x="395935" y="5221224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关键数值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半波电压 5.4 V，谷底偏压 4.7 V，一阶 floor 约 −56.5 dBm；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稳态 −55.9 dBm，标准差 0.034 dB —— 三种模式中最稳的工作点。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基础验证通过：cos / sin 导频切换设计成立。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锁定后 0–30 min 光强方波 + 射频包络（≈0）均稳定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max_min 时域稳定性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上轨（橙）= 光强在最大↔最小两电平方波切换（50% 占空比，切换沿陡峭）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max_min：两态斜率≈0 → 下轨射频幅度恒定≈0（仅切换沿瞬态尖峰），与 max_quad 形成鲜明对比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tmpjcb7c5k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706" y="2817063"/>
            <a:ext cx="2415277" cy="155199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028706" y="4387346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锁定后 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4" name="Picture 53" descr="tmpp5pbdp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817063"/>
            <a:ext cx="2415277" cy="155199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0016" y="4387346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+10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6" name="Picture 55" descr="tmpv5m28j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706" y="4765782"/>
            <a:ext cx="2415277" cy="155199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028706" y="6336065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+20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8" name="Picture 57" descr="tmpmar5c9p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765782"/>
            <a:ext cx="2415277" cy="155199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00016" y="6336065"/>
            <a:ext cx="2415277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+30 min</a:t>
            </a:r>
            <a:endParaRPr sz="1100" b="1">
              <a:solidFill>
                <a:srgbClr val="C71F2C"/>
              </a:solidFill>
            </a:endParaRPr>
          </a:p>
        </p:txBody>
      </p:sp>
      <p:sp>
        <p:nvSpPr>
          <p:cNvPr id="61" name="文本框 3"/>
          <p:cNvSpPr txBox="1"/>
          <p:nvPr/>
        </p:nvSpPr>
        <p:spPr>
          <a:xfrm>
            <a:off x="395935" y="6628673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四个时刻上轨方波与下轨射频包络均一致 —— 一阶梯度下降时域稳定（σ &lt; 0.04 dB）。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30 / 50 / 70% 实测目标比值与理论吻合，偏差 &lt; 2 dB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max_quad 占空比扫描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理论公式：目标比值仅由占空比决定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63" y="2092655"/>
            <a:ext cx="2946272" cy="386562"/>
          </a:xfrm>
          <a:prstGeom prst="rect">
            <a:avLst/>
          </a:prstGeom>
        </p:spPr>
      </p:pic>
      <p:sp>
        <p:nvSpPr>
          <p:cNvPr id="55" name="文本框 3"/>
          <p:cNvSpPr txBox="1"/>
          <p:nvPr/>
        </p:nvSpPr>
        <p:spPr>
          <a:xfrm>
            <a:off x="395935" y="2570657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理论 vs 实测（取小信号近似 J1/J2 ≈ 17）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65760" y="3083737"/>
          <a:ext cx="8412480" cy="15087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/>
                <a:gridCol w="1097280"/>
                <a:gridCol w="1645920"/>
                <a:gridCol w="1645920"/>
                <a:gridCol w="1280160"/>
                <a:gridCol w="128016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占空比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相位偏移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理论 r (dB)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实测 r (dB)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偏差 (dB)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稳态 RMS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 (30%)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66.8°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39.7 (31.97)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50.06 (33.99)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+2.02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4.67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 (50%)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45.0°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17.0 (24.61)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13.85 (22.83)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−1.78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0.81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 + LFM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45.0°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17.0 (24.61)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17.04 (24.62)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+0.01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1.87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 (70%)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23.2°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7.29 (17.25)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8.16  (18.23)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+0.98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0.36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6" name="文本框 3"/>
          <p:cNvSpPr txBox="1"/>
          <p:nvPr/>
        </p:nvSpPr>
        <p:spPr>
          <a:xfrm>
            <a:off x="395935" y="464736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实测平均偏差 +1 dB —— 与文档预测的 +0.76~1.0 dB 系统频响差异完全吻合。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结论：相位偏移公式得到实验级定量验证；max_quad 模式可自由切换占空比。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相位偏移公式的逐项推导与系统频响修正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占空比理论计算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三种占空比的逐项计算结果：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F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2904" y="2092655"/>
            <a:ext cx="3198190" cy="651509"/>
          </a:xfrm>
          <a:prstGeom prst="rect">
            <a:avLst/>
          </a:prstGeom>
        </p:spPr>
      </p:pic>
      <p:sp>
        <p:nvSpPr>
          <p:cNvPr id="57" name="文本框 3"/>
          <p:cNvSpPr txBox="1"/>
          <p:nvPr/>
        </p:nvSpPr>
        <p:spPr>
          <a:xfrm>
            <a:off x="395935" y="283560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计算流程：① 由占空比计算相位偏移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F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46" y="3348685"/>
            <a:ext cx="1152906" cy="307009"/>
          </a:xfrm>
          <a:prstGeom prst="rect">
            <a:avLst/>
          </a:prstGeom>
        </p:spPr>
      </p:pic>
      <p:sp>
        <p:nvSpPr>
          <p:cNvPr id="58" name="文本框 3"/>
          <p:cNvSpPr txBox="1"/>
          <p:nvPr/>
        </p:nvSpPr>
        <p:spPr>
          <a:xfrm>
            <a:off x="395935" y="3747134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② 理论目标比值（小信号近似）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53" descr="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789" y="4260214"/>
            <a:ext cx="1852422" cy="345871"/>
          </a:xfrm>
          <a:prstGeom prst="rect">
            <a:avLst/>
          </a:prstGeom>
        </p:spPr>
      </p:pic>
      <p:sp>
        <p:nvSpPr>
          <p:cNvPr id="59" name="文本框 3"/>
          <p:cNvSpPr txBox="1"/>
          <p:nvPr/>
        </p:nvSpPr>
        <p:spPr>
          <a:xfrm>
            <a:off x="395935" y="469752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③ 实测值 / 理论值的偏差以 dB 形式呈现；系统频响修正：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Picture 54" descr="B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981" y="5210605"/>
            <a:ext cx="2788036" cy="347411"/>
          </a:xfrm>
          <a:prstGeom prst="rect">
            <a:avLst/>
          </a:prstGeom>
        </p:spPr>
      </p:pic>
      <p:sp>
        <p:nvSpPr>
          <p:cNvPr id="60" name="文本框 3"/>
          <p:cNvSpPr txBox="1"/>
          <p:nvPr/>
        </p:nvSpPr>
        <p:spPr>
          <a:xfrm>
            <a:off x="395935" y="5649456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 + 电缆 + 频谱仪输入级在 20 / 40 kHz 处的增益差异；拟合法直接读取 A_fit，自动吸收此偏差，无需理论校准。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锁定谷底在 30 / 50 / 70% 占空比下基本不变，一阶 / 二阶幅度与占空比无关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quad_pm / max_min 占空比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文本框 3"/>
          <p:cNvSpPr txBox="1"/>
          <p:nvPr/>
        </p:nvSpPr>
        <p:spPr>
          <a:xfrm>
            <a:off x="395935" y="19859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 / max_min 在三种占空比下的稳态指标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20039" y="2499055"/>
          <a:ext cx="8503920" cy="9052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/>
                <a:gridCol w="1645920"/>
                <a:gridCol w="1645920"/>
                <a:gridCol w="1645920"/>
                <a:gridCol w="1371600"/>
              </a:tblGrid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模式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30% V_valley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50% V_valley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70% V_valley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稳态 σ (50%)</a:t>
                      </a:r>
                      <a:endParaRPr sz="11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quad_pm（S_2 谷底）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2.15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2.0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2.30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3.59 dB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30175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max_min（S_1 谷底）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4.6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4.7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4.7 V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0.034 dB</a:t>
                      </a:r>
                      <a:endParaRPr sz="11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60" name="文本框 3"/>
          <p:cNvSpPr txBox="1"/>
          <p:nvPr/>
        </p:nvSpPr>
        <p:spPr>
          <a:xfrm>
            <a:off x="395935" y="34591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谷底偏压波动 ≤ 0.3 V（&lt; 6% 半波电压），印证一阶 / 二阶幅度均不随占空比变化的理论结论。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示波器实测：max_quad 上轨光强方波随占空比变化（下轨射频幅度同步切换）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 descr="tmp0dbf0oh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96" y="4687519"/>
            <a:ext cx="2424362" cy="1557833"/>
          </a:xfrm>
          <a:prstGeom prst="rect">
            <a:avLst/>
          </a:prstGeom>
        </p:spPr>
      </p:pic>
      <p:pic>
        <p:nvPicPr>
          <p:cNvPr id="54" name="Picture 53" descr="tmpi82vlm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818" y="4687519"/>
            <a:ext cx="2424362" cy="1557833"/>
          </a:xfrm>
          <a:prstGeom prst="rect">
            <a:avLst/>
          </a:prstGeom>
        </p:spPr>
      </p:pic>
      <p:pic>
        <p:nvPicPr>
          <p:cNvPr id="55" name="Picture 54" descr="tmp69ik943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341" y="4687519"/>
            <a:ext cx="2424362" cy="155783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98296" y="6263640"/>
            <a:ext cx="242436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A = 30%</a:t>
            </a:r>
            <a:endParaRPr sz="1100" b="1"/>
          </a:p>
        </p:txBody>
      </p:sp>
      <p:sp>
        <p:nvSpPr>
          <p:cNvPr id="57" name="TextBox 56"/>
          <p:cNvSpPr txBox="1"/>
          <p:nvPr/>
        </p:nvSpPr>
        <p:spPr>
          <a:xfrm>
            <a:off x="3359818" y="6263640"/>
            <a:ext cx="242436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A = 50%</a:t>
            </a:r>
            <a:endParaRPr sz="1100" b="1"/>
          </a:p>
        </p:txBody>
      </p:sp>
      <p:sp>
        <p:nvSpPr>
          <p:cNvPr id="58" name="TextBox 57"/>
          <p:cNvSpPr txBox="1"/>
          <p:nvPr/>
        </p:nvSpPr>
        <p:spPr>
          <a:xfrm>
            <a:off x="5921341" y="6263640"/>
            <a:ext cx="242436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A = 70%</a:t>
            </a:r>
            <a:endParaRPr sz="11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注入 15 dBm LFM 干扰，max_quad / quad_pm 仍能稳定锁定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LFM 干扰下的抗扰测试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nftmev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898" y="2031694"/>
            <a:ext cx="3344521" cy="2746469"/>
          </a:xfrm>
          <a:prstGeom prst="rect">
            <a:avLst/>
          </a:prstGeom>
        </p:spPr>
      </p:pic>
      <p:pic>
        <p:nvPicPr>
          <p:cNvPr id="53" name="Picture 52" descr="tmpegkhnq7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79" y="2031694"/>
            <a:ext cx="3344521" cy="27506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58898" y="4800600"/>
            <a:ext cx="3344521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max_quad + LFM 15 dBm</a:t>
            </a:r>
            <a:endParaRPr sz="1100" b="1"/>
          </a:p>
        </p:txBody>
      </p:sp>
      <p:sp>
        <p:nvSpPr>
          <p:cNvPr id="55" name="TextBox 54"/>
          <p:cNvSpPr txBox="1"/>
          <p:nvPr/>
        </p:nvSpPr>
        <p:spPr>
          <a:xfrm>
            <a:off x="4640579" y="4800600"/>
            <a:ext cx="3344521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/>
              <a:t>quad_pm + LFM 15 dBm</a:t>
            </a:r>
            <a:endParaRPr sz="1100" b="1"/>
          </a:p>
        </p:txBody>
      </p:sp>
      <p:sp>
        <p:nvSpPr>
          <p:cNvPr id="56" name="文本框 3"/>
          <p:cNvSpPr txBox="1"/>
          <p:nvPr/>
        </p:nvSpPr>
        <p:spPr>
          <a:xfrm>
            <a:off x="395935" y="5038344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关键数值（与无干扰对比）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max_quad@50%+LFM：r_avg = 17.04（target 17.23），偏差 0.01 dB；RMS = 1.87（略大于无干扰的 0.81）。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quad_pm@50%+LFM：S_avg2 = −89.97 dBm（floor −91.77），σ = 4.16 dB（略大于无干扰的 3.59）。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LFM 干扰下两种模式均稳定锁定，控制时间均 &gt; 30 min；导频与干扰频谱分离使系统具备良好抗扰能力。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15 dBm LFM 干扰下，0–30 min 射频方波依然规整稳定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max_quad·LFM 时域稳定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上轨 = 方波 + 导频 + 射频 + LFM 联合波形；下轨 = 数字滤波后的射频幅度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强干扰下射频幅度仍在最大点（≈0）↔ 正交点（max）间规整方波切换，调制深度稳定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tmpjg1816j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002" y="2532583"/>
            <a:ext cx="2608981" cy="16764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835002" y="4227335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锁定后 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4" name="Picture 53" descr="tmpggxcch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32583"/>
            <a:ext cx="2608981" cy="167646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0016" y="4227335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+10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6" name="Picture 55" descr="tmpfq0j1un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002" y="4619988"/>
            <a:ext cx="2608981" cy="16764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835002" y="6314740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+20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8" name="Picture 57" descr="tmp4d10i2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619988"/>
            <a:ext cx="2608981" cy="16764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00016" y="6314740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+30 min</a:t>
            </a:r>
            <a:endParaRPr sz="1100" b="1">
              <a:solidFill>
                <a:srgbClr val="C71F2C"/>
              </a:solidFill>
            </a:endParaRPr>
          </a:p>
        </p:txBody>
      </p:sp>
      <p:sp>
        <p:nvSpPr>
          <p:cNvPr id="61" name="文本框 3"/>
          <p:cNvSpPr txBox="1"/>
          <p:nvPr/>
        </p:nvSpPr>
        <p:spPr>
          <a:xfrm>
            <a:off x="395935" y="6607348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LFM 强干扰下射频方波四时刻一致 —— 比值 PI 在干扰环境保持时域锁定。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15 dBm LFM 干扰下，quad_pm 射频幅度恒定不漂移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quad_pm·LFM 时域稳定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上轨 = 方波 + 导频 + 射频 + LFM 联合波形；下轨 = 数字滤波后的射频幅度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两正交点等效 → 射频幅度恒定，下轨平坦（仅叠加 LFM 引入的噪声起伏）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tmpprw40g6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002" y="2532583"/>
            <a:ext cx="2608981" cy="16764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835002" y="4227335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锁定后 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4" name="Picture 53" descr="tmpbcthcc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32583"/>
            <a:ext cx="2608981" cy="167646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0016" y="4227335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+10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6" name="Picture 55" descr="tmpakof6s_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002" y="4619988"/>
            <a:ext cx="2608981" cy="16764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835002" y="6314740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+20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8" name="Picture 57" descr="tmp03f35c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619988"/>
            <a:ext cx="2608981" cy="16764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00016" y="6314740"/>
            <a:ext cx="2608981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+30 min</a:t>
            </a:r>
            <a:endParaRPr sz="1100" b="1">
              <a:solidFill>
                <a:srgbClr val="C71F2C"/>
              </a:solidFill>
            </a:endParaRPr>
          </a:p>
        </p:txBody>
      </p:sp>
      <p:sp>
        <p:nvSpPr>
          <p:cNvPr id="61" name="文本框 3"/>
          <p:cNvSpPr txBox="1"/>
          <p:nvPr/>
        </p:nvSpPr>
        <p:spPr>
          <a:xfrm>
            <a:off x="395935" y="6607348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干扰下射频幅度无系统性漂移 —— 二阶梯度下降在 LFM 环境稳定锁定。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关闭闭环 → 射频幅度随工作点漂移；开启 → 恢复规整方波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闭环控制有效性对比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 + 15 dBm LFM，下轨为射频幅度：闭环关闭时工作点自由游走，各周期射频调制深度参差不齐；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开启闭环后工作点锁定，射频幅度恢复为最大点↔正交点的规整方波 —— 时域直接验证控制有效性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Picture 51" descr="tmp0dyee4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409" y="3101543"/>
            <a:ext cx="2221574" cy="142752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222409" y="4547357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闭环关闭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4" name="Picture 53" descr="tmpjg1816j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3101543"/>
            <a:ext cx="2221574" cy="142752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0016" y="4547357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闭环开启 · 0 min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6" name="Picture 55" descr="tmpug_fbn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09" y="4911576"/>
            <a:ext cx="2221574" cy="142752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22409" y="6357391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闭环关闭</a:t>
            </a:r>
            <a:endParaRPr sz="1100" b="1">
              <a:solidFill>
                <a:srgbClr val="C71F2C"/>
              </a:solidFill>
            </a:endParaRPr>
          </a:p>
        </p:txBody>
      </p:sp>
      <p:pic>
        <p:nvPicPr>
          <p:cNvPr id="58" name="Picture 57" descr="tmp4d10i2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911576"/>
            <a:ext cx="2221574" cy="142752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00016" y="6357391"/>
            <a:ext cx="222157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71F2C"/>
                </a:solidFill>
              </a:rPr>
              <a:t>闭环开启 · 30 min</a:t>
            </a:r>
            <a:endParaRPr sz="1100" b="1">
              <a:solidFill>
                <a:srgbClr val="C71F2C"/>
              </a:solidFill>
            </a:endParaRPr>
          </a:p>
        </p:txBody>
      </p:sp>
      <p:sp>
        <p:nvSpPr>
          <p:cNvPr id="61" name="文本框 3"/>
          <p:cNvSpPr txBox="1"/>
          <p:nvPr/>
        </p:nvSpPr>
        <p:spPr>
          <a:xfrm>
            <a:off x="395935" y="6649999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左列（关闭）射频方波参差漂移，右列（开启）规整稳定 —— 闭环控制时域有效性的直接证据。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11 次实验全部锁定成功：三模式 × 三占空比 × LFM 抗扰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实验结果汇总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594360" y="1616151"/>
          <a:ext cx="795528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"/>
                <a:gridCol w="822960"/>
                <a:gridCol w="1280160"/>
                <a:gridCol w="548640"/>
                <a:gridCol w="822960"/>
                <a:gridCol w="1554480"/>
                <a:gridCol w="173736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#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时间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模式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LFM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目标值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稳态实测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时长</a:t>
                      </a:r>
                      <a:endParaRPr sz="1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10:47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max_quad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r=13.84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r_avg=13.85, RMS=0.81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37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11:27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S_2=−90.24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S_avg=−92.28, σ=3.59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34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12:19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S_1=−56.50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S_avg=−55.91, σ=0.034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37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14:10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max_quad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r=49.92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r_avg=50.06, RMS=4.67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14:17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max_quad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r=8.13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r_avg=8.16, RMS=0.36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3.4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14:25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S_2=−97.90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S_avg=−92.69, σ=3.48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2.1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14:30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S_2=−87.02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S_avg=−85.31, σ=2.37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1.7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14:35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S_1=−58.73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S_avg=−58.11, σ=0.048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3.4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14:41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S_1=−58.94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S_avg=−58.30, σ=0.049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15:45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max_quad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r=17.23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r_avg=17.04, RMS=1.87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38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16:26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quad_pm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S_2=−91.77 dBm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S_avg=−89.97, σ=4.16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32 min</a:t>
                      </a:r>
                      <a:endParaRPr sz="1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53" name="文本框 3"/>
          <p:cNvSpPr txBox="1"/>
          <p:nvPr/>
        </p:nvSpPr>
        <p:spPr>
          <a:xfrm>
            <a:off x="395935" y="496285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结论：通用 PWM 切换框架在三种模式 × 三种占空比 × 抗扰条件下全部锁定成功。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已达成的实验目标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① 通用 PWM 切换框架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基于 Bessel 展开 + 辅助角化简，统一推导三种模式的 S_1、S_2 公式；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引入由占空比决定的相位偏移后，三种模式共享同一比值函数族。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② 三模式闭环全部实现并验证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max_quad：比值 PI 控制，稳态相对误差 &lt; 0.1%；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quad_pm：自适应探针 S_2 → min，σ ≈ 3.6 dB；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max_min：自适应探针 S_1 → min，σ &lt; 0.05 dB（最稳）。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③ 相位偏移公式得到实验级定量验证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max_quad 在 30% / 50% / 70% 占空比下，实测目标比值与理论值偏差 &lt; 2 dB（系统频响导致）；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quad_pm / max_min 的 V_valley 在三种占空比下基本不变，印证 S_1/S_2 不依赖 A 的理论结论。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④ LFM 抗扰能力验证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注入 15 dBm LFM 干扰下，max_quad / quad_pm 仍能稳定锁定 &gt; 30 min。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低损耗工作点、长时间漂移、系统集成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① 非 50% 占空比的工程化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 越偏离 0.5，功率损失越小（A=0.9 时仅 −0.9 dB），但相位偏移越接近边界，控制环路需要重新调优；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评估 A=0.7 / 0.8 / 0.9 下的稳态噪声与收敛速度，找到最佳工程平衡点。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② 长时间漂移测试（&gt; 8 h）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当前 5/10 实验最长 37 min，未观察到漂移；下一步做隔夜测试，验证温度漂移下的长期稳定性。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③ 系统集成联调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与上位机间歇采样雷达 / DPMZM-MIMO 项目对接，作为偏置控制子模块嵌入；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考察控制循环带宽（当前 ~2 Hz，受频谱仪扫描时间限制）是否满足联调需求。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④ 文档与代码规范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docs/theory 中 quad_pm / max_min 推导已写完整；docs/experiments 待补 quad_pm.md、max_min.md；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ModeBase 接口已稳定，可作为未来新模式（e.g., 多电平 PAM 切换）的扩展点。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12281" y="2420916"/>
            <a:ext cx="3119438" cy="617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谢谢！</a:t>
            </a:r>
            <a:endParaRPr kumimoji="0" lang="zh-CN" altLang="en-US" sz="6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31719" y="4581096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汇报人：张新科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935" y="981151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11 次实验脚本产出 + 32 张示波器时域波形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附录：数据与文件清单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/>
          <p:cNvSpPr txBox="1"/>
          <p:nvPr/>
        </p:nvSpPr>
        <p:spPr>
          <a:xfrm>
            <a:off x="395935" y="1579575"/>
            <a:ext cx="8496604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脚本侧（/Users/ckdfs/Desktop/isbc_20260510_上位机脚本采集/）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11 个子目录，命名格式：{YYYYMMDD_HHMMSS}_{mode}_{占空比}%_{LFM 状态}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每目录含：vpi_scan.csv, vpi.json, arb_scan.csv, fit_result.json, scan.png, control.png, control_log.csv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示波器侧（/Users/ckdfs/Desktop/isbctest_20260510/）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32 张 PNG：max_quad 14 张、quad_pm 12 张、max_min 6 张（含 LFM / 控制 on-off 对照）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命名格式：{mode}_{占空比}%_{on|off}_{lfmXXdbm}.png；时域波形上轨为联合信号、下轨为滤波后射频幅度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代码侧（/Users/ckdfs/code/isbcscript/）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main.py + mzm/{hw,scan,fit,control,plot,io}.py + mzm/modes/{base,max_quad,quad_pm,max_min}.py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config.py 集中放参数；docs/{theory,experiments,spec,hardware} 放文档；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 仓库已 commit；PPT 构建工具链：ppt_build/{template.pptx, formulas.json, math/, build.py, output/}（已 gitignore）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3600" b="1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10192</Words>
  <Application>WPS 演示</Application>
  <PresentationFormat>全屏显示(4:3)</PresentationFormat>
  <Paragraphs>1081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36</vt:i4>
      </vt:variant>
    </vt:vector>
  </HeadingPairs>
  <TitlesOfParts>
    <vt:vector size="60" baseType="lpstr">
      <vt:lpstr>Arial</vt:lpstr>
      <vt:lpstr>宋体</vt:lpstr>
      <vt:lpstr>Wingdings</vt:lpstr>
      <vt:lpstr>Calibri</vt:lpstr>
      <vt:lpstr>Helvetica Neue</vt:lpstr>
      <vt:lpstr>汉仪书宋二KW</vt:lpstr>
      <vt:lpstr>Times New Roman</vt:lpstr>
      <vt:lpstr>PMingLiU</vt:lpstr>
      <vt:lpstr>宋体-繁</vt:lpstr>
      <vt:lpstr>微软雅黑</vt:lpstr>
      <vt:lpstr>Wingdings</vt:lpstr>
      <vt:lpstr>Microsoft yahei</vt:lpstr>
      <vt:lpstr>宋体</vt:lpstr>
      <vt:lpstr>Arial Unicode MS</vt:lpstr>
      <vt:lpstr>Arial</vt:lpstr>
      <vt:lpstr>Office 主题</vt:lpstr>
      <vt:lpstr>1_Office 主题</vt:lpstr>
      <vt:lpstr>2_Office 主题</vt:lpstr>
      <vt:lpstr>3_主题</vt:lpstr>
      <vt:lpstr>3_Office 主题</vt:lpstr>
      <vt:lpstr>4_Office 主题</vt:lpstr>
      <vt:lpstr>5_Office 主题</vt:lpstr>
      <vt:lpstr>Office 主题​​</vt:lpstr>
      <vt:lpstr>6_Office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</dc:creator>
  <cp:lastModifiedBy>张新科</cp:lastModifiedBy>
  <cp:revision>989</cp:revision>
  <dcterms:created xsi:type="dcterms:W3CDTF">2026-06-12T09:13:26Z</dcterms:created>
  <dcterms:modified xsi:type="dcterms:W3CDTF">2026-06-12T09:13:26Z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RubyTemplateID">
    <vt:lpwstr>2</vt:lpwstr>
  </property>
  <property fmtid="{D5CDD505-2E9C-101B-9397-08002B2CF9AE}" pid="4" name="ICV">
    <vt:lpwstr>90893D090B6E4F39B6771B088060E365_13</vt:lpwstr>
  </property>
</Properties>
</file>